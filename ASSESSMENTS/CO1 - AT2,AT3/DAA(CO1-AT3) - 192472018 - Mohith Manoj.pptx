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EC6D14-C942-4C52-A861-43A52ABA075E}" v="1" dt="2026-07-20T15:00:54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8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ITH MANOJ" userId="da6748917d7f2495" providerId="LiveId" clId="{AAE66974-5E2A-4D37-9F82-1A06B4232C65}"/>
    <pc:docChg chg="modSld">
      <pc:chgData name="MOHITH MANOJ" userId="da6748917d7f2495" providerId="LiveId" clId="{AAE66974-5E2A-4D37-9F82-1A06B4232C65}" dt="2026-07-20T15:00:54.890" v="7"/>
      <pc:docMkLst>
        <pc:docMk/>
      </pc:docMkLst>
      <pc:sldChg chg="addSp modSp mod">
        <pc:chgData name="MOHITH MANOJ" userId="da6748917d7f2495" providerId="LiveId" clId="{AAE66974-5E2A-4D37-9F82-1A06B4232C65}" dt="2026-07-20T15:00:03.459" v="6" actId="20577"/>
        <pc:sldMkLst>
          <pc:docMk/>
          <pc:sldMk cId="0" sldId="260"/>
        </pc:sldMkLst>
        <pc:spChg chg="mod">
          <ac:chgData name="MOHITH MANOJ" userId="da6748917d7f2495" providerId="LiveId" clId="{AAE66974-5E2A-4D37-9F82-1A06B4232C65}" dt="2026-07-20T15:00:03.459" v="6" actId="20577"/>
          <ac:spMkLst>
            <pc:docMk/>
            <pc:sldMk cId="0" sldId="260"/>
            <ac:spMk id="24" creationId="{00000000-0000-0000-0000-000000000000}"/>
          </ac:spMkLst>
        </pc:spChg>
        <pc:picChg chg="add mod">
          <ac:chgData name="MOHITH MANOJ" userId="da6748917d7f2495" providerId="LiveId" clId="{AAE66974-5E2A-4D37-9F82-1A06B4232C65}" dt="2026-07-20T14:59:09.658" v="2" actId="14100"/>
          <ac:picMkLst>
            <pc:docMk/>
            <pc:sldMk cId="0" sldId="260"/>
            <ac:picMk id="34" creationId="{8A224CFF-3D08-40BC-EA4B-C810AE0B8162}"/>
          </ac:picMkLst>
        </pc:picChg>
      </pc:sldChg>
      <pc:sldChg chg="modSp">
        <pc:chgData name="MOHITH MANOJ" userId="da6748917d7f2495" providerId="LiveId" clId="{AAE66974-5E2A-4D37-9F82-1A06B4232C65}" dt="2026-07-20T15:00:54.890" v="7"/>
        <pc:sldMkLst>
          <pc:docMk/>
          <pc:sldMk cId="0" sldId="263"/>
        </pc:sldMkLst>
        <pc:graphicFrameChg chg="mod">
          <ac:chgData name="MOHITH MANOJ" userId="da6748917d7f2495" providerId="LiveId" clId="{AAE66974-5E2A-4D37-9F82-1A06B4232C65}" dt="2026-07-20T15:00:54.890" v="7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 Ω(1)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n=16</c:v>
                </c:pt>
                <c:pt idx="1">
                  <c:v>n=64</c:v>
                </c:pt>
                <c:pt idx="2">
                  <c:v>n=256</c:v>
                </c:pt>
                <c:pt idx="3">
                  <c:v>n=1024</c:v>
                </c:pt>
                <c:pt idx="4">
                  <c:v>n=4096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1C-440A-9F94-E716F2C66A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 Θ(log n)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n=16</c:v>
                </c:pt>
                <c:pt idx="1">
                  <c:v>n=64</c:v>
                </c:pt>
                <c:pt idx="2">
                  <c:v>n=256</c:v>
                </c:pt>
                <c:pt idx="3">
                  <c:v>n=1024</c:v>
                </c:pt>
                <c:pt idx="4">
                  <c:v>n=4096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1C-440A-9F94-E716F2C66A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Worst  O(log n)</c:v>
                </c:pt>
              </c:strCache>
            </c:strRef>
          </c:tx>
          <c:spPr>
            <a:pattFill prst="narHorz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n=16</c:v>
                </c:pt>
                <c:pt idx="1">
                  <c:v>n=64</c:v>
                </c:pt>
                <c:pt idx="2">
                  <c:v>n=256</c:v>
                </c:pt>
                <c:pt idx="3">
                  <c:v>n=1024</c:v>
                </c:pt>
                <c:pt idx="4">
                  <c:v>n=4096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1C-440A-9F94-E716F2C66A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Comparisons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32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2FC5B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Best, Average, and Worst Case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Binary Search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case-wise efficiency study using asymptotic notation, with a working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and complexity comparison.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5029200"/>
            <a:ext cx="1280160" cy="0"/>
          </a:xfrm>
          <a:prstGeom prst="line">
            <a:avLst/>
          </a:prstGeom>
          <a:noFill/>
          <a:ln w="38100">
            <a:solidFill>
              <a:srgbClr val="2FC5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9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 Mohith Manoj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577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 |  CSA0619 - DAA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study Binary Search?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55648"/>
            <a:ext cx="310896" cy="310896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66420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is one of the most frequently executed operations in computing — from database lookups to compiler symbol tables</a:t>
            </a: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72968"/>
            <a:ext cx="310896" cy="310896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1729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308152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the canonical divide-and-conquer search algorithm: it repeatedly halves the search space instead of scanning it linearly.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590288"/>
            <a:ext cx="310896" cy="310896"/>
          </a:xfrm>
          <a:prstGeom prst="ellipse">
            <a:avLst/>
          </a:prstGeom>
          <a:solidFill>
            <a:srgbClr val="E8F1F5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4590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498848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its running time changes sharply with where the target lies, it is an ideal case study for best, average, and worst-case analysis.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552944" y="1280160"/>
            <a:ext cx="4160520" cy="4114800"/>
          </a:xfrm>
          <a:prstGeom prst="roundRect">
            <a:avLst>
              <a:gd name="adj" fmla="val 2667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72984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72984" y="18745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must be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SORTED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872984" y="2880360"/>
            <a:ext cx="352044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72984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72984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target with the middle element, then discard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array each step.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872984" y="4389120"/>
            <a:ext cx="352044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872984" y="4572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SHRINKS 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72984" y="4892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→ n/2 → n/4 → ... → 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the search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</a:t>
            </a:r>
            <a:r>
              <a:rPr lang="en-US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sorted array A[0..n−1] of n comparable elements, and a search key K.
</a:t>
            </a: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 </a:t>
            </a:r>
            <a:r>
              <a:rPr lang="en-US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i such that A[i] = K, or report that K is not present in A.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CONDITIONS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480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Array must be sorted in ascending (or descending) order.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3280" y="3657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1188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4480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 to any index in O(1) — arrays, not linked lists</a:t>
            </a: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4652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4480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(n)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elements; determines the recursion / loop depth.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365760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281160" y="3886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81160" y="4480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position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48006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K sits relative to the midpoints visited — drives which case occurs.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ALGORITHM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and Pseudocode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04825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Set low = 0 and high = n − 1.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70662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While low ≤ high, compute mid = ⌊(low + high) / 2⌋.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419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64992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A[mid] = K → return mid (found).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4078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0233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A[mid] &lt; K → search right half: low = mid + 1.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736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6817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Else → search left half: high = mid − 1.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8F1F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48640" y="5394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53400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low &gt; high, K is not present → return −1.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74436" y="1381089"/>
            <a:ext cx="5806440" cy="5284542"/>
          </a:xfrm>
          <a:prstGeom prst="roundRect">
            <a:avLst>
              <a:gd name="adj" fmla="val 2198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06440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1712343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BINARY_SEARCH(A, n, K)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 ← 0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high ← n - 1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low ≤ high do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mid ← (low + high) / 2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A[mid] = K then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return mid          // found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 if A[mid] &lt; K then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low ← mid + 1     // go right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high ← mid - 1    // go left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end if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while</a:t>
            </a: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endParaRPr lang="en-US" sz="12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-1                   // not found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Working: Control Flow Diagram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1064240" y="35204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A224CFF-3D08-40BC-EA4B-C810AE0B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278" y="1417320"/>
            <a:ext cx="8569444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Implementation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959326"/>
          </a:xfrm>
          <a:prstGeom prst="roundRect">
            <a:avLst>
              <a:gd name="adj" fmla="val 2062"/>
            </a:avLst>
          </a:prstGeom>
          <a:solidFill>
            <a:srgbClr val="0B2545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binary_search.py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2000" y="1691640"/>
            <a:ext cx="104241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binary_search(arr, target):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low, high = 0, len(arr) - 1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comparisons = 0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low &lt;= high: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comparisons += 1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mid = (low + high) // 2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arr[mid] == target: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mid, comparisons        # BEST case: found at mid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arr[mid] &lt; target: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low = mid + 1                  # search right half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high = mid - 1                 # search left half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-1, comparisons                 # WORST case: not found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Precondition: arr must already be sorted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[3, 8, 12, 19, 23, 29, 34, 41, 47, 53, 58, 64, 71, 78, 85]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index, steps = binary_search(arr, 23)</a:t>
            </a:r>
            <a:endParaRPr lang="en-US" sz="123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print(f"Found at index {index} using {steps} comparisons")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Output — Demonstration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array of n = 15 elements. Three runs demonstrate the best, average, and worst-case behavior of the same program.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4160520"/>
          </a:xfrm>
          <a:prstGeom prst="roundRect">
            <a:avLst>
              <a:gd name="adj" fmla="val 219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78408" y="224028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79576" y="224028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10424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 Array: [3, 8, 12, 19, 23, 29, 34, 41, 47, 53, 58, 64, 71, 78, 85]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Size (n): 15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1: BEST CASE (target = mid element on first check)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1: low=0, high=14, mid=7, arr[mid]=41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41 found at index 7 in 1 comparison(s)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2: AVERAGE CASE (target = 23, a few levels deep)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1: low=0, high=14, mid=7   Step 3: low=4, high=6, mid=5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2: low=0, high=6, mid=3    Step 4: low=4, high=4, mid=4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23 found at index 4 in 4 comparison(s)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3: WORST CASE (target = 99, not present)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Step 1: mid=7  Step 2: mid=11  Step 3: mid=13  Step 4: mid=14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99 not found -&gt; result -1 in 4 comparison(s)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COMPLEXITY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Best, Average, and Worst Case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241682"/>
              </p:ext>
            </p:extLst>
          </p:nvPr>
        </p:nvGraphicFramePr>
        <p:xfrm>
          <a:off x="370936" y="1645920"/>
          <a:ext cx="5943600" cy="2103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6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is the middle element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Ω(1)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AD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anywhere else in the array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log₂(n)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Θ(log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2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absent, or the last element checked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⌊log₂ n⌋ + 1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329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O(log n)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O(1) iterative · O(log n) recursive (call stack)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576072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77240" y="4572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Linear Search:  </a:t>
            </a: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O(1), Average O(n), Worst O(n).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Search's log n growth is why it scales to large, sorted datasets far better than a linear scan.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vs. ARRAY SIZE (n)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534550595"/>
              </p:ext>
            </p:extLst>
          </p:nvPr>
        </p:nvGraphicFramePr>
        <p:xfrm>
          <a:off x="6492240" y="201168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206240" cy="42062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case matters most?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real-world systems, the </a:t>
            </a:r>
            <a:r>
              <a:rPr lang="en-US" sz="16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usually the most significant. Search queries rarely land exactly on the midpoint (best case, rare in practice), and a well-formed sorted dataset rarely forces every step to the last comparison (pure worst case). Systems are designed and benchmarked around expected, everyday load — which the </a:t>
            </a:r>
            <a:r>
              <a:rPr lang="en-US" sz="1600" b="1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Θ(log n) average case</a:t>
            </a: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said, the </a:t>
            </a: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remains critical for safety-critical and real-time systems (e.g. embedded, financial trading), where a guaranteed upper bound O(log n) is what makes binary search dependable at scale — far outperforming linear search's O(n) as n grows.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649224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5394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Cormen, Leiserson, Rivest, Stein — Introduction to Algorithms (CLRS), 3rd Ed., MIT Press.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Sartaj Sahni — Data Structures, Algorithms, and Applications in C++.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Ellis Horowitz et al. — Fundamentals of Computer Algorithms.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GeeksforGeeks — Binary Search Algorithm, geeksforgeeks.org.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452360" y="1737360"/>
            <a:ext cx="4160520" cy="4206240"/>
          </a:xfrm>
          <a:prstGeom prst="roundRect">
            <a:avLst>
              <a:gd name="adj" fmla="val 2637"/>
            </a:avLst>
          </a:prstGeom>
          <a:solidFill>
            <a:srgbClr val="12314A"/>
          </a:solidFill>
          <a:ln w="12700">
            <a:solidFill>
              <a:srgbClr val="2341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C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Ω(1)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7240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Θ(log n)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77240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206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O(log n)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D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0" y="5166360"/>
            <a:ext cx="3520440" cy="0"/>
          </a:xfrm>
          <a:prstGeom prst="line">
            <a:avLst/>
          </a:prstGeom>
          <a:noFill/>
          <a:ln w="12700">
            <a:solidFill>
              <a:srgbClr val="2C4A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772400" y="5349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C5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1301</Words>
  <Application>Microsoft Office PowerPoint</Application>
  <PresentationFormat>Widescreen</PresentationFormat>
  <Paragraphs>176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MOHITH MANOJ</cp:lastModifiedBy>
  <cp:revision>2</cp:revision>
  <dcterms:created xsi:type="dcterms:W3CDTF">2026-07-20T14:21:06Z</dcterms:created>
  <dcterms:modified xsi:type="dcterms:W3CDTF">2026-07-20T15:01:03Z</dcterms:modified>
</cp:coreProperties>
</file>